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6C2A8"/>
                </a:solidFill>
                <a:latin typeface="Calibri"/>
              </a:rPr>
              <a:t>NEWCOMER CREDIT DECISIONING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Deciding, and defending, thin-file credit for UAE newcomers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FDAE3"/>
                </a:solidFill>
                <a:latin typeface="Calibri"/>
              </a:rPr>
              <a:t>A B2B copilot that gives a UAE credit officer a fast, consistent, defensible </a:t>
            </a:r>
            <a:r>
              <a:rPr sz="1800" b="1" i="0">
                <a:solidFill>
                  <a:srgbClr val="9FE0CD"/>
                </a:solidFill>
                <a:latin typeface="Calibri"/>
              </a:rPr>
              <a:t>approve, decline, or refer</a:t>
            </a:r>
            <a:r>
              <a:rPr sz="1800" b="0" i="0">
                <a:solidFill>
                  <a:srgbClr val="CFDAE3"/>
                </a:solidFill>
                <a:latin typeface="Calibri"/>
              </a:rPr>
              <a:t> decision on an applicant with no local credit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AABB8"/>
                </a:solidFill>
                <a:latin typeface="Calibri"/>
              </a:rPr>
              <a:t>PMCurve AI-PM Capstone, Cohort 6  ·  Solo, bring-your-own project  ·  Synthetic data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A new arrival starts with a blank credit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The market: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the UAE is about 88% expat. A large share of loan applicants are recent arrivals.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The gap: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a newcomer has no record at the Al Etihad Credit Bureau (AECB), so the usual credit score does not exist.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Today: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banks either reject good customers outright, or assess them slowly and inconsistently by hand, the better part of an hour per file.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The cost: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lost good customers, slow onboarding, and decisions an officer cannot easily defend to a regulator.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B72"/>
                </a:solidFill>
                <a:latin typeface="Calibri"/>
              </a:rPr>
              <a:t>88% expat is a market figure. All applicant data in this deck is synthetic.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The credit officer, who has to stand behind the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User: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a credit officer at a UAE digital bank, assessing newcomer personal-loan and credit-card applications.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Their job: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decide repay-vs-default risk, apply lending policy, and write a rationale they can defend later.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Their constraint: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in a regulated decision, being able to explain and reconstruct the call matters as much as the call itself.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The design rule: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the tool recommends; the human always makes the final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Structured intake to a defensible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2148840" cy="3108960"/>
          </a:xfrm>
          <a:prstGeom prst="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2148840" cy="109728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59152"/>
            <a:ext cx="1819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28A6B"/>
                </a:solidFill>
                <a:latin typeface="Calibri"/>
              </a:rPr>
              <a:t>1</a:t>
            </a:r>
          </a:p>
          <a:p>
            <a:pPr>
              <a:spcBef>
                <a:spcPts val="200"/>
              </a:spcBef>
            </a:pPr>
            <a:r>
              <a:rPr sz="1700" b="1" i="0">
                <a:solidFill>
                  <a:srgbClr val="0B2340"/>
                </a:solidFill>
                <a:latin typeface="Calibri"/>
              </a:rPr>
              <a:t>Intake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Officer enters employment, salary, tenure, rent history, and a few alt-data fields.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9232" y="2103120"/>
            <a:ext cx="2148840" cy="3108960"/>
          </a:xfrm>
          <a:prstGeom prst="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9232" y="2103120"/>
            <a:ext cx="2148840" cy="109728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2359152"/>
            <a:ext cx="1819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28A6B"/>
                </a:solidFill>
                <a:latin typeface="Calibri"/>
              </a:rPr>
              <a:t>2</a:t>
            </a:r>
          </a:p>
          <a:p>
            <a:pPr>
              <a:spcBef>
                <a:spcPts val="200"/>
              </a:spcBef>
            </a:pPr>
            <a:r>
              <a:rPr sz="1700" b="1" i="0">
                <a:solidFill>
                  <a:srgbClr val="0B2340"/>
                </a:solidFill>
                <a:latin typeface="Calibri"/>
              </a:rPr>
              <a:t>Scorecard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 transparent 5-factor judgmental scorecard scores repay-vs-default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2664" y="2103120"/>
            <a:ext cx="2148840" cy="3108960"/>
          </a:xfrm>
          <a:prstGeom prst="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12664" y="2103120"/>
            <a:ext cx="2148840" cy="109728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7256" y="2359152"/>
            <a:ext cx="1819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28A6B"/>
                </a:solidFill>
                <a:latin typeface="Calibri"/>
              </a:rPr>
              <a:t>3</a:t>
            </a:r>
          </a:p>
          <a:p>
            <a:pPr>
              <a:spcBef>
                <a:spcPts val="200"/>
              </a:spcBef>
            </a:pPr>
            <a:r>
              <a:rPr sz="1700" b="1" i="0">
                <a:solidFill>
                  <a:srgbClr val="0B2340"/>
                </a:solidFill>
                <a:latin typeface="Calibri"/>
              </a:rPr>
              <a:t>Policy check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Six UAE lending rules run against the applicant, each with a citation.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6096" y="2103120"/>
            <a:ext cx="2148840" cy="3108960"/>
          </a:xfrm>
          <a:prstGeom prst="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6096" y="2103120"/>
            <a:ext cx="2148840" cy="109728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2359152"/>
            <a:ext cx="1819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28A6B"/>
                </a:solidFill>
                <a:latin typeface="Calibri"/>
              </a:rPr>
              <a:t>4</a:t>
            </a:r>
          </a:p>
          <a:p>
            <a:pPr>
              <a:spcBef>
                <a:spcPts val="200"/>
              </a:spcBef>
            </a:pPr>
            <a:r>
              <a:rPr sz="1700" b="1" i="0">
                <a:solidFill>
                  <a:srgbClr val="0B2340"/>
                </a:solidFill>
                <a:latin typeface="Calibri"/>
              </a:rPr>
              <a:t>Explanation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An LLM writes a plain-language rationale grounded only in the above.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39528" y="2103120"/>
            <a:ext cx="2148840" cy="3108960"/>
          </a:xfrm>
          <a:prstGeom prst="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39528" y="2103120"/>
            <a:ext cx="2148840" cy="109728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2359152"/>
            <a:ext cx="1819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28A6B"/>
                </a:solidFill>
                <a:latin typeface="Calibri"/>
              </a:rPr>
              <a:t>5</a:t>
            </a:r>
          </a:p>
          <a:p>
            <a:pPr>
              <a:spcBef>
                <a:spcPts val="200"/>
              </a:spcBef>
            </a:pPr>
            <a:r>
              <a:rPr sz="1700" b="1" i="0">
                <a:solidFill>
                  <a:srgbClr val="0B2340"/>
                </a:solidFill>
                <a:latin typeface="Calibri"/>
              </a:rPr>
              <a:t>Recommendation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Approve, decline, or refer. The officer reviews and makes the final call.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86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666B72"/>
                </a:solidFill>
                <a:latin typeface="Calibri"/>
              </a:rPr>
              <a:t>The score and the verdict are fully deterministic. The LLM writes the explanation only; it cannot change points, rules, or the recommendation.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Rules plus an LLM, with no trained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What we built: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a rules-based scorecard and policy engine for the decision, with an LLM for the explanation layer only.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What we did not build: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a trained credit model. No black-box score drives the verdict.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Why: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for a regulated v1 lending decision, explainability and defensibility beat a marginal accuracy gain from a model nobody can audit.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0B2340"/>
                </a:solidFill>
                <a:latin typeface="Calibri"/>
              </a:rPr>
              <a:t>•  The featured layer: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the explanation and decision-reasoning, the part a bank cannot get from a raw prompt.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A REAL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What the officer sees,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120640" cy="3383280"/>
          </a:xfrm>
          <a:prstGeom prst="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66B72"/>
                </a:solidFill>
                <a:latin typeface="Calibri"/>
              </a:rPr>
              <a:t>INPUT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2B2B2B"/>
                </a:solidFill>
                <a:latin typeface="Calibri"/>
              </a:rPr>
              <a:t>Government employee, 14 months in the UAE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2B2B2B"/>
                </a:solidFill>
                <a:latin typeface="Calibri"/>
              </a:rPr>
              <a:t>Salary AED 20,000 / month, no obligations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2B2B2B"/>
                </a:solidFill>
                <a:latin typeface="Calibri"/>
              </a:rPr>
              <a:t>On-time rent, 6+ months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2B2B2B"/>
                </a:solidFill>
                <a:latin typeface="Calibri"/>
              </a:rPr>
              <a:t>Wants a personal loan: AED 40,000 over 12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874519"/>
            <a:ext cx="5120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874519"/>
            <a:ext cx="5120640" cy="640080"/>
          </a:xfrm>
          <a:prstGeom prst="rect">
            <a:avLst/>
          </a:prstGeom>
          <a:solidFill>
            <a:srgbClr val="1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7510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OUTPUT:  APPROVE  ·  low risk  ·  score 98/100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Salary over double the AED 8,000 minimum; debt burden 18% (cap is 50%)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Government employer, top stability tier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All six policy rules pass, each cited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6+ months on-time rent: strongest behavioral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66B72"/>
                </a:solidFill>
                <a:latin typeface="Calibri"/>
              </a:rPr>
              <a:t>A weaker profile returns </a:t>
            </a:r>
            <a:r>
              <a:rPr sz="1500" b="1" i="0">
                <a:solidFill>
                  <a:srgbClr val="B87300"/>
                </a:solidFill>
                <a:latin typeface="Calibri"/>
              </a:rPr>
              <a:t>refer</a:t>
            </a:r>
            <a:r>
              <a:rPr sz="1500" b="0" i="0">
                <a:solidFill>
                  <a:srgbClr val="666B72"/>
                </a:solidFill>
                <a:latin typeface="Calibri"/>
              </a:rPr>
              <a:t> for a human to check, or </a:t>
            </a:r>
            <a:r>
              <a:rPr sz="1500" b="1" i="0">
                <a:solidFill>
                  <a:srgbClr val="B02A2A"/>
                </a:solidFill>
                <a:latin typeface="Calibri"/>
              </a:rPr>
              <a:t>decline</a:t>
            </a:r>
            <a:r>
              <a:rPr sz="1500" b="0" i="0">
                <a:solidFill>
                  <a:srgbClr val="666B72"/>
                </a:solidFill>
                <a:latin typeface="Calibri"/>
              </a:rPr>
              <a:t> with the exact rule that failed named. Real output, captured from the running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THE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An explanation you can trust, by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The use case: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the LLM turns the deterministic score and policy results into a plain-language rationale for the officer.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Grounding validator: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 check catches any invented fact, retries once, and falls back to a deterministic template, so no ungrounded text reaches the officer.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Result: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hallucination is enforced to zero, not just measured. In the eval, 24/24 explanations were grounded on the first attempt.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Adversarial probe: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 built-in prompt-injection test proves a malicious input in the name field cannot move the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EVALUATION, THE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An exam the model could not study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24 locked profiles: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synthetic applicants spanning every rule and boundary, 8 approve, 8 decline, 8 refer.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Labels locked first: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outcomes were fixed before any scorecard weight existed. The labels could not be tuned to fit the model.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Method: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run all 24 through the full pipeline, including the real model explanation, verify each against ground truth, compute metrics vs the Phase 1 targets.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Honesty rule: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boundary mismatches are surfaced, not tuned away. A mismatch is information about a borderline case, not a bug to hide.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EVALUATION,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Every safety target met; one latency tail to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92024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743200"/>
                <a:gridCol w="2743200"/>
                <a:gridCol w="13716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B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B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>
                    <a:solidFill>
                      <a:srgbClr val="0B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0B234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B2B2B"/>
                          </a:solidFill>
                          <a:latin typeface="Calibri"/>
                        </a:rPr>
                        <a:t>Decision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80% or 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20/24  (83.3%)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E7D4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B2B2B"/>
                          </a:solidFill>
                          <a:latin typeface="Calibri"/>
                        </a:rPr>
                        <a:t>False approval rate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under 10%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0/24  (0.0%)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E7D4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B2B2B"/>
                          </a:solidFill>
                          <a:latin typeface="Calibri"/>
                        </a:rPr>
                        <a:t>Hallucination (shown)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0 across the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0/24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E7D4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B2B2B"/>
                          </a:solidFill>
                          <a:latin typeface="Calibri"/>
                        </a:rPr>
                        <a:t>Policy grounding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100% traceable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E7D4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B2B2B"/>
                          </a:solidFill>
                          <a:latin typeface="Calibri"/>
                        </a:rPr>
                        <a:t>Latency per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under 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B2B2B"/>
                          </a:solidFill>
                          <a:latin typeface="Calibri"/>
                        </a:rPr>
                        <a:t>avg 8.2s, max 15.3s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B87300"/>
                          </a:solidFill>
                          <a:latin typeface="Calibri"/>
                        </a:rPr>
                        <a:t>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394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666B72"/>
                </a:solidFill>
                <a:latin typeface="Calibri"/>
              </a:rPr>
              <a:t>Creditworthy newcomers approved: 7 of 8. The four accuracy misses are conservative refers or a cautious call; none is a false approval. The only miss vs target is the latency tail (one slow case at 15.3s).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WHY A BANK CANNOT JUST PROMPT AN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The hard part is standing behind the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0B2340"/>
                </a:solidFill>
                <a:latin typeface="Calibri"/>
              </a:rPr>
              <a:t>•  A prompt proves the model works once.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Production needs three things a prompt does not give you, and this build carries the demo-scale version of each: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340"/>
                </a:solidFill>
                <a:latin typeface="Calibri"/>
              </a:rPr>
              <a:t>•  Evals: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the 24-profile locked ground truth, run by a self-check harness.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340"/>
                </a:solidFill>
                <a:latin typeface="Calibri"/>
              </a:rPr>
              <a:t>•  Override tracking: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a review queue and audit log where a referred case and the analyst's action survive a reload.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340"/>
                </a:solidFill>
                <a:latin typeface="Calibri"/>
              </a:rPr>
              <a:t>•  Decision reconstruction: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a policy citation on every rule outcome and a ruleset version stamped on every decision, so you can answer 'why did we decline this person in June' months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THE ARCHITECTURE 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Policy is configuration, a market is a 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The rules live in a config pack,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not in code: rule values, citations, score tiers, and band cut-offs are all data.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Live what-if: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drag the debt-burden cap from 50% to 45% and the 24-profile run recomputes on stage, with no code change.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The shift is visible: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approvals drop from 7 of 8 to 6 of 8, two boundary cases move to decline, and every citation now reads 45%.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B2340"/>
                </a:solidFill>
                <a:latin typeface="Calibri"/>
              </a:rPr>
              <a:t>•  The payoff: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 second market (a new bureau and regulator) is a new pack, not a new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From the better part of an hour to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5120640" cy="2926080"/>
          </a:xfrm>
          <a:prstGeom prst="rect">
            <a:avLst/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B02A2A"/>
                </a:solidFill>
                <a:latin typeface="Calibri"/>
              </a:rPr>
              <a:t>TODAY  ·  manual review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Assemble salary, visa, obligations, bureau status by hand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Check each against policy from memory or a PDF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Write up the rationale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≈ the better part of an hour per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011680"/>
            <a:ext cx="5120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E7D46"/>
                </a:solidFill>
                <a:latin typeface="Calibri"/>
              </a:rPr>
              <a:t>WITH THE COPILOT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Structured intake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Policy rules run instantly, with citations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Officer reviews recommendation and counterfactuals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•  Judgment spent only on the refer queue →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B72"/>
                </a:solidFill>
                <a:latin typeface="Calibri"/>
              </a:rPr>
              <a:t>Illustrative, showing where the time goes; not a measured timing claim. A measured study is parked for v2.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28A6B"/>
                </a:solidFill>
                <a:latin typeface="Calibri"/>
              </a:rPr>
              <a:t>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2340"/>
                </a:solidFill>
                <a:latin typeface="Calibri"/>
              </a:rPr>
              <a:t>Parked on purpose, ready to answer 'and then?'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371600" cy="45720"/>
          </a:xfrm>
          <a:prstGeom prst="rect">
            <a:avLst/>
          </a:prstGeom>
          <a:solidFill>
            <a:srgbClr val="12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0B2340"/>
                </a:solidFill>
                <a:latin typeface="Calibri"/>
              </a:rPr>
              <a:t>•  A second market pack: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Saudi Arabia, swapping AECB/CBUAE for SIMAH/SAMA. The real test of 'a market is a pack'. (Rule values illustrative until SAMA-sourced.)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340"/>
                </a:solidFill>
                <a:latin typeface="Calibri"/>
              </a:rPr>
              <a:t>•  Overrides as feedback: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every queue override is labeled data on where the rules disagree with human judgment, feeding rule tuning.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340"/>
                </a:solidFill>
                <a:latin typeface="Calibri"/>
              </a:rPr>
              <a:t>•  Version vs version: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a second ruleset (uae v1.1) and a version selector, so impact analysis becomes champion vs challenger.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0B2340"/>
                </a:solidFill>
                <a:latin typeface="Calibri"/>
              </a:rPr>
              <a:t>•  Close the latency tail: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the one item still short of target, isolate the slow case and cap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Built, evaluated, and 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D7E0E8"/>
                </a:solidFill>
                <a:latin typeface="Calibri"/>
              </a:rPr>
              <a:t>•  All four capstone phases complete: scope, design, build, and evaluation.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D7E0E8"/>
                </a:solidFill>
                <a:latin typeface="Calibri"/>
              </a:rPr>
              <a:t>•  The MVP is built, type-clean, tested, and measured against a locked baseline.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D7E0E8"/>
                </a:solidFill>
                <a:latin typeface="Calibri"/>
              </a:rPr>
              <a:t>•  Every safety target met (0 false approvals, 0 hallucinations, 100% grounding).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D7E0E8"/>
                </a:solidFill>
                <a:latin typeface="Calibri"/>
              </a:rPr>
              <a:t>•  Live deployment is the one remaining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9FE0CD"/>
                </a:solidFill>
                <a:latin typeface="Calibri"/>
              </a:rPr>
              <a:t>github.com/Mxjoshi/newcomer-credit-copilot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BB8"/>
                </a:solidFill>
                <a:latin typeface="Calibri"/>
              </a:rPr>
              <a:t>Product, scope, and sign-offs: Monika.  Engineering pair: Claude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